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869680" y="365760"/>
            <a:ext cx="2743200" cy="2743200"/>
          </a:xfrm>
          <a:prstGeom prst="ellipse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3017520"/>
            <a:ext cx="1645920" cy="1645920"/>
          </a:xfrm>
          <a:prstGeom prst="ellipse">
            <a:avLst/>
          </a:prstGeom>
          <a:solidFill>
            <a:srgbClr val="ED6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79" y="4297680"/>
            <a:ext cx="2011680" cy="2011680"/>
          </a:xfrm>
          <a:prstGeom prst="ellipse">
            <a:avLst/>
          </a:prstGeom>
          <a:solidFill>
            <a:srgbClr val="2F44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7132320" cy="6858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3500" b="1">
                <a:solidFill>
                  <a:srgbClr val="FFFFFF"/>
                </a:solidFill>
                <a:latin typeface="Aptos"/>
              </a:defRPr>
            </a:pPr>
            <a:r>
              <a:t>ORDER &amp;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084831"/>
            <a:ext cx="658368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400" b="0">
                <a:solidFill>
                  <a:srgbClr val="BED7F5"/>
                </a:solidFill>
                <a:latin typeface="Aptos"/>
              </a:defRPr>
            </a:pPr>
            <a:r>
              <a:t>Dashboard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62179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500" b="0">
                <a:solidFill>
                  <a:srgbClr val="FFFFFF"/>
                </a:solidFill>
                <a:latin typeface="Aptos"/>
              </a:defRPr>
            </a:pPr>
            <a:r>
              <a:t>Power BI Project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6492240" cy="8686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700" b="0">
                <a:solidFill>
                  <a:srgbClr val="DCE4EF"/>
                </a:solidFill>
                <a:latin typeface="Aptos"/>
              </a:defRPr>
            </a:pPr>
            <a:r>
              <a:t>An overview of order volume, sales value, delivery performance,</a:t>
            </a:r>
            <a:br/>
            <a:r>
              <a:t>and category-wise business trends.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172200"/>
            <a:ext cx="7315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BEC8D7"/>
                </a:solidFill>
                <a:latin typeface="Aptos"/>
              </a:defRPr>
            </a:pPr>
            <a:r>
              <a:t>Prepared using the provided Power BI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700" b="1">
                <a:solidFill>
                  <a:srgbClr val="162741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100" b="0">
                <a:solidFill>
                  <a:srgbClr val="5F6B7B"/>
                </a:solidFill>
                <a:latin typeface="Aptos"/>
              </a:defRPr>
            </a:pPr>
            <a:r>
              <a:t>What this dashboard helps us understand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685800" cy="54864"/>
          </a:xfrm>
          <a:prstGeom prst="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93192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1">
                <a:solidFill>
                  <a:srgbClr val="5F6B7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8288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200" b="1">
                <a:solidFill>
                  <a:srgbClr val="227EE6"/>
                </a:solidFill>
                <a:latin typeface="Aptos"/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4846320" cy="1417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100" b="1">
                <a:solidFill>
                  <a:srgbClr val="162741"/>
                </a:solidFill>
                <a:latin typeface="Aptos"/>
              </a:defRPr>
            </a:pPr>
            <a:r>
              <a:t>To summarize order activity and sales performance in one view, making it easier to identify leading cities, courier partners, and product categories.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1783080"/>
            <a:ext cx="53035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984248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227EE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929384"/>
            <a:ext cx="4114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1">
                <a:solidFill>
                  <a:srgbClr val="162741"/>
                </a:solidFill>
                <a:latin typeface="Aptos"/>
              </a:defRPr>
            </a:pPr>
            <a:r>
              <a:t>Monitor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258568"/>
            <a:ext cx="416052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100" b="0">
                <a:solidFill>
                  <a:srgbClr val="5F6B7B"/>
                </a:solidFill>
                <a:latin typeface="Aptos"/>
              </a:defRPr>
            </a:pPr>
            <a:r>
              <a:t>Track total orders and compare delivered, returned, delayed, and cancelled 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136391"/>
            <a:ext cx="53035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3337560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227EE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282696"/>
            <a:ext cx="4114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1">
                <a:solidFill>
                  <a:srgbClr val="162741"/>
                </a:solidFill>
                <a:latin typeface="Aptos"/>
              </a:defRPr>
            </a:pPr>
            <a:r>
              <a:t>Compare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611879"/>
            <a:ext cx="416052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100" b="0">
                <a:solidFill>
                  <a:srgbClr val="5F6B7B"/>
                </a:solidFill>
                <a:latin typeface="Aptos"/>
              </a:defRPr>
            </a:pPr>
            <a:r>
              <a:t>See how order counts differ across cities and courier partners.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4489704"/>
            <a:ext cx="530352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E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4690872"/>
            <a:ext cx="50292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227EE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636008"/>
            <a:ext cx="41148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1">
                <a:solidFill>
                  <a:srgbClr val="162741"/>
                </a:solidFill>
                <a:latin typeface="Aptos"/>
              </a:defRPr>
            </a:pPr>
            <a:r>
              <a:t>Understand sales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965192"/>
            <a:ext cx="4160520" cy="43891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100" b="0">
                <a:solidFill>
                  <a:srgbClr val="5F6B7B"/>
                </a:solidFill>
                <a:latin typeface="Aptos"/>
              </a:defRPr>
            </a:pPr>
            <a:r>
              <a:t>Compare sales value by product category and inspect order-level values.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700" b="1">
                <a:solidFill>
                  <a:srgbClr val="162741"/>
                </a:solidFill>
                <a:latin typeface="Aptos"/>
              </a:defRPr>
            </a:pPr>
            <a:r>
              <a:t>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100" b="0">
                <a:solidFill>
                  <a:srgbClr val="5F6B7B"/>
                </a:solidFill>
                <a:latin typeface="Aptos"/>
              </a:defRPr>
            </a:pPr>
            <a:r>
              <a:t>Top-left cards provide a quick snapshot of the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685800" cy="54864"/>
          </a:xfrm>
          <a:prstGeom prst="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93192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1">
                <a:solidFill>
                  <a:srgbClr val="5F6B7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51663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029968"/>
            <a:ext cx="23774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800" b="1">
                <a:solidFill>
                  <a:srgbClr val="227EE6"/>
                </a:solidFill>
                <a:latin typeface="Aptos"/>
              </a:defRPr>
            </a:pPr>
            <a:r>
              <a:t>1.2K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578608"/>
            <a:ext cx="4389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500" b="1">
                <a:solidFill>
                  <a:srgbClr val="162741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871215"/>
            <a:ext cx="452628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5F6B7B"/>
                </a:solidFill>
                <a:latin typeface="Aptos"/>
              </a:defRPr>
            </a:pPr>
            <a:r>
              <a:t>Approximately 1,200 orders are represented.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28800"/>
            <a:ext cx="51663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029968"/>
            <a:ext cx="23774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800" b="1">
                <a:solidFill>
                  <a:srgbClr val="227EE6"/>
                </a:solidFill>
                <a:latin typeface="Aptos"/>
              </a:defRPr>
            </a:pPr>
            <a:r>
              <a:t>₹14.81M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578608"/>
            <a:ext cx="4389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500" b="1">
                <a:solidFill>
                  <a:srgbClr val="162741"/>
                </a:solidFill>
                <a:latin typeface="Aptos"/>
              </a:defRPr>
            </a:pPr>
            <a:r>
              <a:t>Total Order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871215"/>
            <a:ext cx="452628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5F6B7B"/>
                </a:solidFill>
                <a:latin typeface="Aptos"/>
              </a:defRPr>
            </a:pPr>
            <a:r>
              <a:t>Combined order value is about ₹14.81 million.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657600"/>
            <a:ext cx="51663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3858768"/>
            <a:ext cx="23774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800" b="1">
                <a:solidFill>
                  <a:srgbClr val="227EE6"/>
                </a:solidFill>
                <a:latin typeface="Aptos"/>
              </a:defRPr>
            </a:pPr>
            <a:r>
              <a:t>1,041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407408"/>
            <a:ext cx="4389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500" b="1">
                <a:solidFill>
                  <a:srgbClr val="162741"/>
                </a:solidFill>
                <a:latin typeface="Aptos"/>
              </a:defRPr>
            </a:pPr>
            <a:r>
              <a:t>Delivered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" y="4700016"/>
            <a:ext cx="452628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5F6B7B"/>
                </a:solidFill>
                <a:latin typeface="Aptos"/>
              </a:defRPr>
            </a:pPr>
            <a:r>
              <a:t>Most orders are marked as delivered.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657600"/>
            <a:ext cx="5166360" cy="1417320"/>
          </a:xfrm>
          <a:prstGeom prst="roundRect">
            <a:avLst/>
          </a:prstGeom>
          <a:solidFill>
            <a:srgbClr val="F4F7FB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9672" y="3858768"/>
            <a:ext cx="23774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800" b="1">
                <a:solidFill>
                  <a:srgbClr val="227EE6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9672" y="4407408"/>
            <a:ext cx="438912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500" b="1">
                <a:solidFill>
                  <a:srgbClr val="162741"/>
                </a:solidFill>
                <a:latin typeface="Aptos"/>
              </a:defRPr>
            </a:pPr>
            <a:r>
              <a:t>Returned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4700016"/>
            <a:ext cx="4526280" cy="2468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5F6B7B"/>
                </a:solidFill>
                <a:latin typeface="Aptos"/>
              </a:defRPr>
            </a:pPr>
            <a:r>
              <a:t>A small number of orders are marked as returned.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97880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5F6B7B"/>
                </a:solidFill>
                <a:latin typeface="Aptos"/>
              </a:defRPr>
            </a:pPr>
            <a:r>
              <a:t>Note: KPI values are read from the supplied dashboard; rounded figures may be displayed as K or 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700" b="1">
                <a:solidFill>
                  <a:srgbClr val="162741"/>
                </a:solidFill>
                <a:latin typeface="Aptos"/>
              </a:defRPr>
            </a:pPr>
            <a:r>
              <a:t>Orders by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100" b="0">
                <a:solidFill>
                  <a:srgbClr val="5F6B7B"/>
                </a:solidFill>
                <a:latin typeface="Aptos"/>
              </a:defRPr>
            </a:pPr>
            <a:r>
              <a:t>Horizontal bar chart compares order counts across the displayed cities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685800" cy="54864"/>
          </a:xfrm>
          <a:prstGeom prst="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93192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1">
                <a:solidFill>
                  <a:srgbClr val="5F6B7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280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162741"/>
                </a:solidFill>
                <a:latin typeface="Aptos"/>
              </a:defRPr>
            </a:pPr>
            <a:r>
              <a:t>Nagpur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1792224"/>
            <a:ext cx="4206240" cy="201168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1773936"/>
            <a:ext cx="2377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5F6B7B"/>
                </a:solidFill>
                <a:latin typeface="Aptos"/>
              </a:defRPr>
            </a:pPr>
            <a:r>
              <a:t>Highest shown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67712"/>
            <a:ext cx="1280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162741"/>
                </a:solidFill>
                <a:latin typeface="Aptos"/>
              </a:defRPr>
            </a:pPr>
            <a:r>
              <a:t>Indore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2276856"/>
            <a:ext cx="3977639" cy="201168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258568"/>
            <a:ext cx="2377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5F6B7B"/>
                </a:solidFill>
                <a:latin typeface="Aptos"/>
              </a:defRPr>
            </a:pPr>
            <a:r>
              <a:t>Among the leaders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52344"/>
            <a:ext cx="1280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162741"/>
                </a:solidFill>
                <a:latin typeface="Aptos"/>
              </a:defRPr>
            </a:pPr>
            <a:r>
              <a:t>Patna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2761487"/>
            <a:ext cx="3968496" cy="201168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2743200"/>
            <a:ext cx="2377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5F6B7B"/>
                </a:solidFill>
                <a:latin typeface="Aptos"/>
              </a:defRPr>
            </a:pPr>
            <a:r>
              <a:t>High volume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36976"/>
            <a:ext cx="1280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162741"/>
                </a:solidFill>
                <a:latin typeface="Aptos"/>
              </a:defRPr>
            </a:pPr>
            <a:r>
              <a:t>Bhopal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40280" y="3246120"/>
            <a:ext cx="3950208" cy="201168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227832"/>
            <a:ext cx="2377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5F6B7B"/>
                </a:solidFill>
                <a:latin typeface="Aptos"/>
              </a:defRPr>
            </a:pPr>
            <a:r>
              <a:t>High volume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721608"/>
            <a:ext cx="1280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162741"/>
                </a:solidFill>
                <a:latin typeface="Aptos"/>
              </a:defRPr>
            </a:pPr>
            <a:r>
              <a:t>Kanpur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40280" y="3730752"/>
            <a:ext cx="3877056" cy="201168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712464"/>
            <a:ext cx="2377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5F6B7B"/>
                </a:solidFill>
                <a:latin typeface="Aptos"/>
              </a:defRPr>
            </a:pPr>
            <a:r>
              <a:t>High volume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06240"/>
            <a:ext cx="1280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162741"/>
                </a:solidFill>
                <a:latin typeface="Aptos"/>
              </a:defRPr>
            </a:pPr>
            <a:r>
              <a:t>Jaipur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40280" y="4215384"/>
            <a:ext cx="3703320" cy="201168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197096"/>
            <a:ext cx="2377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5F6B7B"/>
                </a:solidFill>
                <a:latin typeface="Aptos"/>
              </a:defRPr>
            </a:pPr>
            <a:r>
              <a:t>Mid-range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690872"/>
            <a:ext cx="1280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162741"/>
                </a:solidFill>
                <a:latin typeface="Aptos"/>
              </a:defRPr>
            </a:pPr>
            <a:r>
              <a:t>Lucknow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40280" y="4700016"/>
            <a:ext cx="3493008" cy="201168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681728"/>
            <a:ext cx="2377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5F6B7B"/>
                </a:solidFill>
                <a:latin typeface="Aptos"/>
              </a:defRPr>
            </a:pPr>
            <a:r>
              <a:t>Lower among shown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175504"/>
            <a:ext cx="128016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162741"/>
                </a:solidFill>
                <a:latin typeface="Aptos"/>
              </a:defRPr>
            </a:pPr>
            <a:r>
              <a:t>Surat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40280" y="5184648"/>
            <a:ext cx="3429000" cy="201168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5166360"/>
            <a:ext cx="237744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5F6B7B"/>
                </a:solidFill>
                <a:latin typeface="Aptos"/>
              </a:defRPr>
            </a:pPr>
            <a:r>
              <a:t>Lower among shown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989320"/>
            <a:ext cx="1078992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28303C"/>
                </a:solidFill>
                <a:latin typeface="Aptos"/>
              </a:defRPr>
            </a:pPr>
            <a:r>
              <a:t>Takeaway: Nagpur has the highest order count among the cities visible in this chart. The bars show relative order volume, not sales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700" b="1">
                <a:solidFill>
                  <a:srgbClr val="162741"/>
                </a:solidFill>
                <a:latin typeface="Aptos"/>
              </a:defRPr>
            </a:pPr>
            <a:r>
              <a:t>Orders by Courier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100" b="0">
                <a:solidFill>
                  <a:srgbClr val="5F6B7B"/>
                </a:solidFill>
                <a:latin typeface="Aptos"/>
              </a:defRPr>
            </a:pPr>
            <a:r>
              <a:t>The chart compares the number of orders handled by each courier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685800" cy="54864"/>
          </a:xfrm>
          <a:prstGeom prst="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93192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1">
                <a:solidFill>
                  <a:srgbClr val="5F6B7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554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1">
                <a:solidFill>
                  <a:srgbClr val="162741"/>
                </a:solidFill>
                <a:latin typeface="Aptos"/>
              </a:defRPr>
            </a:pPr>
            <a:r>
              <a:t>BlueRoute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847088"/>
            <a:ext cx="6567543" cy="310896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55480" y="1847088"/>
            <a:ext cx="914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5F6B7B"/>
                </a:solidFill>
                <a:latin typeface="Aptos"/>
              </a:defRPr>
            </a:pPr>
            <a:r>
              <a:t>~330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1554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1">
                <a:solidFill>
                  <a:srgbClr val="162741"/>
                </a:solidFill>
                <a:latin typeface="Aptos"/>
              </a:defRPr>
            </a:pPr>
            <a:r>
              <a:t>SwiftShip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2624328"/>
            <a:ext cx="6428232" cy="310896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55480" y="2624328"/>
            <a:ext cx="914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5F6B7B"/>
                </a:solidFill>
                <a:latin typeface="Aptos"/>
              </a:defRPr>
            </a:pPr>
            <a:r>
              <a:t>~323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83280"/>
            <a:ext cx="1554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1">
                <a:solidFill>
                  <a:srgbClr val="162741"/>
                </a:solidFill>
                <a:latin typeface="Aptos"/>
              </a:defRPr>
            </a:pPr>
            <a:r>
              <a:t>QuickKart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3401568"/>
            <a:ext cx="6050100" cy="310896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3401568"/>
            <a:ext cx="914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5F6B7B"/>
                </a:solidFill>
                <a:latin typeface="Aptos"/>
              </a:defRPr>
            </a:pPr>
            <a:r>
              <a:t>~304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1554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1">
                <a:solidFill>
                  <a:srgbClr val="162741"/>
                </a:solidFill>
                <a:latin typeface="Aptos"/>
              </a:defRPr>
            </a:pPr>
            <a:r>
              <a:t>ParcelPro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4178807"/>
            <a:ext cx="5592362" cy="310896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4178807"/>
            <a:ext cx="9144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5F6B7B"/>
                </a:solidFill>
                <a:latin typeface="Aptos"/>
              </a:defRPr>
            </a:pPr>
            <a:r>
              <a:t>~281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486400"/>
            <a:ext cx="1033272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1">
                <a:solidFill>
                  <a:srgbClr val="28303C"/>
                </a:solidFill>
                <a:latin typeface="Aptos"/>
              </a:defRPr>
            </a:pPr>
            <a:r>
              <a:t>Takeaway: BlueRoute has the largest order count among the four displayed partners, while ParcelPro has the smallest.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6126480"/>
            <a:ext cx="10332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5F6B7B"/>
                </a:solidFill>
                <a:latin typeface="Aptos"/>
              </a:defRPr>
            </a:pPr>
            <a:r>
              <a:t>The values are approximate readings from the visual chart.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700" b="1">
                <a:solidFill>
                  <a:srgbClr val="162741"/>
                </a:solidFill>
                <a:latin typeface="Aptos"/>
              </a:defRPr>
            </a:pPr>
            <a:r>
              <a:t>Sales by Product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100" b="0">
                <a:solidFill>
                  <a:srgbClr val="5F6B7B"/>
                </a:solidFill>
                <a:latin typeface="Aptos"/>
              </a:defRPr>
            </a:pPr>
            <a:r>
              <a:t>Order value is compared across six product categories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685800" cy="54864"/>
          </a:xfrm>
          <a:prstGeom prst="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93192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1">
                <a:solidFill>
                  <a:srgbClr val="5F6B7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828800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400" b="1">
                <a:solidFill>
                  <a:srgbClr val="162741"/>
                </a:solidFill>
                <a:latin typeface="Aptos"/>
              </a:defRPr>
            </a:pPr>
            <a:r>
              <a:t>Fashion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10512"/>
            <a:ext cx="4869179" cy="246888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58200" y="1783080"/>
            <a:ext cx="1280160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200" b="1">
                <a:solidFill>
                  <a:srgbClr val="5F6B7B"/>
                </a:solidFill>
                <a:latin typeface="Aptos"/>
              </a:defRPr>
            </a:pPr>
            <a:r>
              <a:t>~₹3.55M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1828800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400" b="1">
                <a:solidFill>
                  <a:srgbClr val="162741"/>
                </a:solidFill>
                <a:latin typeface="Aptos"/>
              </a:defRPr>
            </a:pPr>
            <a:r>
              <a:t>Electronics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404872"/>
            <a:ext cx="4690872" cy="246888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58200" y="2377440"/>
            <a:ext cx="1280160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200" b="1">
                <a:solidFill>
                  <a:srgbClr val="5F6B7B"/>
                </a:solidFill>
                <a:latin typeface="Aptos"/>
              </a:defRPr>
            </a:pPr>
            <a:r>
              <a:t>~₹3.42M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1828800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400" b="1">
                <a:solidFill>
                  <a:srgbClr val="162741"/>
                </a:solidFill>
                <a:latin typeface="Aptos"/>
              </a:defRPr>
            </a:pPr>
            <a:r>
              <a:t>Home &amp; Kitchen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999232"/>
            <a:ext cx="3813048" cy="246888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2971800"/>
            <a:ext cx="1280160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200" b="1">
                <a:solidFill>
                  <a:srgbClr val="5F6B7B"/>
                </a:solidFill>
                <a:latin typeface="Aptos"/>
              </a:defRPr>
            </a:pPr>
            <a:r>
              <a:t>~₹2.78M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828800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400" b="1">
                <a:solidFill>
                  <a:srgbClr val="162741"/>
                </a:solidFill>
                <a:latin typeface="Aptos"/>
              </a:defRPr>
            </a:pPr>
            <a:r>
              <a:t>Beauty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0" y="3593592"/>
            <a:ext cx="2976372" cy="246888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58200" y="3566160"/>
            <a:ext cx="1280160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200" b="1">
                <a:solidFill>
                  <a:srgbClr val="5F6B7B"/>
                </a:solidFill>
                <a:latin typeface="Aptos"/>
              </a:defRPr>
            </a:pPr>
            <a:r>
              <a:t>~₹2.17M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1828800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400" b="1">
                <a:solidFill>
                  <a:srgbClr val="162741"/>
                </a:solidFill>
                <a:latin typeface="Aptos"/>
              </a:defRPr>
            </a:pPr>
            <a:r>
              <a:t>Sports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0" y="4187952"/>
            <a:ext cx="2331720" cy="246888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4160520"/>
            <a:ext cx="1280160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200" b="1">
                <a:solidFill>
                  <a:srgbClr val="5F6B7B"/>
                </a:solidFill>
                <a:latin typeface="Aptos"/>
              </a:defRPr>
            </a:pPr>
            <a:r>
              <a:t>~₹1.70M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754880"/>
            <a:ext cx="1828800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400" b="1">
                <a:solidFill>
                  <a:srgbClr val="162741"/>
                </a:solidFill>
                <a:latin typeface="Aptos"/>
              </a:defRPr>
            </a:pPr>
            <a:r>
              <a:t>Books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4782312"/>
            <a:ext cx="1810512" cy="246888"/>
          </a:xfrm>
          <a:prstGeom prst="round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4754880"/>
            <a:ext cx="1280160" cy="30175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200" b="1">
                <a:solidFill>
                  <a:srgbClr val="5F6B7B"/>
                </a:solidFill>
                <a:latin typeface="Aptos"/>
              </a:defRPr>
            </a:pPr>
            <a:r>
              <a:t>~₹1.32M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15000"/>
            <a:ext cx="1051560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500" b="1">
                <a:solidFill>
                  <a:srgbClr val="28303C"/>
                </a:solidFill>
                <a:latin typeface="Aptos"/>
              </a:defRPr>
            </a:pPr>
            <a:r>
              <a:t>Takeaway: Fashion leads sales value, followed by Electronics and Home &amp; Kitchen. Books has the lowest value among the categories shown.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6263640"/>
            <a:ext cx="10515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000" b="0">
                <a:solidFill>
                  <a:srgbClr val="5F6B7B"/>
                </a:solidFill>
                <a:latin typeface="Aptos"/>
              </a:defRPr>
            </a:pPr>
            <a:r>
              <a:t>Values are approximate, based on the axis scale in the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700" b="1">
                <a:solidFill>
                  <a:srgbClr val="162741"/>
                </a:solidFill>
                <a:latin typeface="Aptos"/>
              </a:defRPr>
            </a:pPr>
            <a:r>
              <a:t>Order Status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100" b="0">
                <a:solidFill>
                  <a:srgbClr val="5F6B7B"/>
                </a:solidFill>
                <a:latin typeface="Aptos"/>
              </a:defRPr>
            </a:pPr>
            <a:r>
              <a:t>The doughnut chart shows how orders are split by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685800" cy="54864"/>
          </a:xfrm>
          <a:prstGeom prst="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93192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1">
                <a:solidFill>
                  <a:srgbClr val="5F6B7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874519"/>
            <a:ext cx="274320" cy="274320"/>
          </a:xfrm>
          <a:prstGeom prst="ellipse">
            <a:avLst/>
          </a:prstGeom>
          <a:solidFill>
            <a:srgbClr val="ED69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828800"/>
            <a:ext cx="21031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1">
                <a:solidFill>
                  <a:srgbClr val="162741"/>
                </a:solidFill>
                <a:latin typeface="Aptos"/>
              </a:defRPr>
            </a:pPr>
            <a:r>
              <a:t>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28800"/>
            <a:ext cx="10972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1">
                <a:solidFill>
                  <a:srgbClr val="28303C"/>
                </a:solidFill>
                <a:latin typeface="Aptos"/>
              </a:defRPr>
            </a:pPr>
            <a:r>
              <a:t>1.04K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828800"/>
            <a:ext cx="10972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500" b="0">
                <a:solidFill>
                  <a:srgbClr val="5F6B7B"/>
                </a:solidFill>
                <a:latin typeface="Aptos"/>
              </a:defRPr>
            </a:pPr>
            <a:r>
              <a:t>86.75%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679191"/>
            <a:ext cx="274320" cy="274320"/>
          </a:xfrm>
          <a:prstGeom prst="ellipse">
            <a:avLst/>
          </a:prstGeom>
          <a:solidFill>
            <a:srgbClr val="1A2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633472"/>
            <a:ext cx="21031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1">
                <a:solidFill>
                  <a:srgbClr val="162741"/>
                </a:solidFill>
                <a:latin typeface="Aptos"/>
              </a:defRPr>
            </a:pPr>
            <a:r>
              <a:t>Delayed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633472"/>
            <a:ext cx="10972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1">
                <a:solidFill>
                  <a:srgbClr val="28303C"/>
                </a:solidFill>
                <a:latin typeface="Aptos"/>
              </a:defRPr>
            </a:pPr>
            <a:r>
              <a:t>0.09K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33472"/>
            <a:ext cx="10972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500" b="0">
                <a:solidFill>
                  <a:srgbClr val="5F6B7B"/>
                </a:solidFill>
                <a:latin typeface="Aptos"/>
              </a:defRPr>
            </a:pPr>
            <a:r>
              <a:t>7.17%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483863"/>
            <a:ext cx="274320" cy="274320"/>
          </a:xfrm>
          <a:prstGeom prst="ellipse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3438144"/>
            <a:ext cx="21031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1">
                <a:solidFill>
                  <a:srgbClr val="162741"/>
                </a:solidFill>
                <a:latin typeface="Aptos"/>
              </a:defRPr>
            </a:pPr>
            <a:r>
              <a:t>Cancelled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438144"/>
            <a:ext cx="10972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1">
                <a:solidFill>
                  <a:srgbClr val="28303C"/>
                </a:solidFill>
                <a:latin typeface="Aptos"/>
              </a:defRPr>
            </a:pPr>
            <a:r>
              <a:t>0.05K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438144"/>
            <a:ext cx="10972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500" b="0">
                <a:solidFill>
                  <a:srgbClr val="5F6B7B"/>
                </a:solidFill>
                <a:latin typeface="Aptos"/>
              </a:defRPr>
            </a:pPr>
            <a:r>
              <a:t>3.92%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288536"/>
            <a:ext cx="274320" cy="274320"/>
          </a:xfrm>
          <a:prstGeom prst="ellipse">
            <a:avLst/>
          </a:prstGeom>
          <a:solidFill>
            <a:srgbClr val="7614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242816"/>
            <a:ext cx="210312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1">
                <a:solidFill>
                  <a:srgbClr val="162741"/>
                </a:solidFill>
                <a:latin typeface="Aptos"/>
              </a:defRPr>
            </a:pPr>
            <a:r>
              <a:t>Returned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242816"/>
            <a:ext cx="10972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1">
                <a:solidFill>
                  <a:srgbClr val="28303C"/>
                </a:solidFill>
                <a:latin typeface="Aptos"/>
              </a:defRPr>
            </a:pPr>
            <a:r>
              <a:t>0.03K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242816"/>
            <a:ext cx="109728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500" b="0">
                <a:solidFill>
                  <a:srgbClr val="5F6B7B"/>
                </a:solidFill>
                <a:latin typeface="Aptos"/>
              </a:defRPr>
            </a:pPr>
            <a:r>
              <a:t>2.17%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828800"/>
            <a:ext cx="237744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700" b="1">
                <a:solidFill>
                  <a:srgbClr val="227EE6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331720"/>
            <a:ext cx="4206240" cy="1508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800" b="1">
                <a:solidFill>
                  <a:srgbClr val="162741"/>
                </a:solidFill>
                <a:latin typeface="Aptos"/>
              </a:defRPr>
            </a:pPr>
            <a:r>
              <a:t>Delivered orders dominate the dataset at roughly 86.75%. Delayed and cancelled orders are smaller shares, while returns are the smallest segment.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4206240"/>
            <a:ext cx="4206240" cy="10058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400" b="0">
                <a:solidFill>
                  <a:srgbClr val="5F6B7B"/>
                </a:solidFill>
                <a:latin typeface="Aptos"/>
              </a:defRPr>
            </a:pPr>
            <a:r>
              <a:t>Business implication: prioritize reducing delays and cancellations while maintaining the current delivery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700" b="1">
                <a:solidFill>
                  <a:srgbClr val="162741"/>
                </a:solidFill>
                <a:latin typeface="Aptos"/>
              </a:defRPr>
            </a:pPr>
            <a:r>
              <a:t>Order-Level Value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100" b="0">
                <a:solidFill>
                  <a:srgbClr val="5F6B7B"/>
                </a:solidFill>
                <a:latin typeface="Aptos"/>
              </a:defRPr>
            </a:pPr>
            <a:r>
              <a:t>The line chart plots order value against Order_ID for the displayed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685800" cy="54864"/>
          </a:xfrm>
          <a:prstGeom prst="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93192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1">
                <a:solidFill>
                  <a:srgbClr val="5F6B7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309109"/>
            <a:ext cx="7680960" cy="7315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4199381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900" b="0">
                <a:solidFill>
                  <a:srgbClr val="5F6B7B"/>
                </a:solidFill>
                <a:latin typeface="Aptos"/>
              </a:defRPr>
            </a:pPr>
            <a:r>
              <a:t>10K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" y="3497579"/>
            <a:ext cx="7680960" cy="7315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387851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900" b="0">
                <a:solidFill>
                  <a:srgbClr val="5F6B7B"/>
                </a:solidFill>
                <a:latin typeface="Aptos"/>
              </a:defRPr>
            </a:pPr>
            <a:r>
              <a:t>20K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" y="2686050"/>
            <a:ext cx="7680960" cy="7315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576322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900" b="0">
                <a:solidFill>
                  <a:srgbClr val="5F6B7B"/>
                </a:solidFill>
                <a:latin typeface="Aptos"/>
              </a:defRPr>
            </a:pPr>
            <a:r>
              <a:t>30K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1560" y="1874519"/>
            <a:ext cx="7680960" cy="7315"/>
          </a:xfrm>
          <a:prstGeom prst="rect">
            <a:avLst/>
          </a:prstGeom>
          <a:solidFill>
            <a:srgbClr val="DC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1764791"/>
            <a:ext cx="4572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900" b="0">
                <a:solidFill>
                  <a:srgbClr val="5F6B7B"/>
                </a:solidFill>
                <a:latin typeface="Aptos"/>
              </a:defRPr>
            </a:pPr>
            <a:r>
              <a:t>40K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281988" y="2458821"/>
            <a:ext cx="691287" cy="64923"/>
          </a:xfrm>
          <a:prstGeom prst="line">
            <a:avLst/>
          </a:prstGeom>
          <a:ln w="31750">
            <a:solidFill>
              <a:srgbClr val="227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973275" y="2523744"/>
            <a:ext cx="768096" cy="129844"/>
          </a:xfrm>
          <a:prstGeom prst="line">
            <a:avLst/>
          </a:prstGeom>
          <a:ln w="31750">
            <a:solidFill>
              <a:srgbClr val="227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741371" y="2653588"/>
            <a:ext cx="768096" cy="194768"/>
          </a:xfrm>
          <a:prstGeom prst="line">
            <a:avLst/>
          </a:prstGeom>
          <a:ln w="31750">
            <a:solidFill>
              <a:srgbClr val="227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509467" y="2848356"/>
            <a:ext cx="768096" cy="227228"/>
          </a:xfrm>
          <a:prstGeom prst="line">
            <a:avLst/>
          </a:prstGeom>
          <a:ln w="31750">
            <a:solidFill>
              <a:srgbClr val="227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277563" y="3075584"/>
            <a:ext cx="768096" cy="97384"/>
          </a:xfrm>
          <a:prstGeom prst="line">
            <a:avLst/>
          </a:prstGeom>
          <a:ln w="31750">
            <a:solidFill>
              <a:srgbClr val="227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045659" y="3172968"/>
            <a:ext cx="614477" cy="389534"/>
          </a:xfrm>
          <a:prstGeom prst="line">
            <a:avLst/>
          </a:prstGeom>
          <a:ln w="31750">
            <a:solidFill>
              <a:srgbClr val="227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60136" y="3562502"/>
            <a:ext cx="614476" cy="162306"/>
          </a:xfrm>
          <a:prstGeom prst="line">
            <a:avLst/>
          </a:prstGeom>
          <a:ln w="31750">
            <a:solidFill>
              <a:srgbClr val="227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274612" y="3724808"/>
            <a:ext cx="537668" cy="227228"/>
          </a:xfrm>
          <a:prstGeom prst="line">
            <a:avLst/>
          </a:prstGeom>
          <a:ln w="31750">
            <a:solidFill>
              <a:srgbClr val="227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12280" y="3952036"/>
            <a:ext cx="537667" cy="162306"/>
          </a:xfrm>
          <a:prstGeom prst="line">
            <a:avLst/>
          </a:prstGeom>
          <a:ln w="31750">
            <a:solidFill>
              <a:srgbClr val="227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349947" y="4114342"/>
            <a:ext cx="537667" cy="292151"/>
          </a:xfrm>
          <a:prstGeom prst="line">
            <a:avLst/>
          </a:prstGeom>
          <a:ln w="31750">
            <a:solidFill>
              <a:srgbClr val="227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887614" y="4406493"/>
            <a:ext cx="614477" cy="162306"/>
          </a:xfrm>
          <a:prstGeom prst="line">
            <a:avLst/>
          </a:prstGeom>
          <a:ln w="31750">
            <a:solidFill>
              <a:srgbClr val="227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006840" y="2011680"/>
            <a:ext cx="2286000" cy="2560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400" b="1">
                <a:solidFill>
                  <a:srgbClr val="162741"/>
                </a:solidFill>
                <a:latin typeface="Aptos"/>
              </a:defRPr>
            </a:pPr>
            <a:r>
              <a:t>The displayed line generally declines from left to right, indicating lower order values across the sequence shown. Since the x-axis uses Order_ID rather than date, this should not be interpreted as a time trend.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515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28303C"/>
                </a:solidFill>
                <a:latin typeface="Aptos"/>
              </a:defRPr>
            </a:pPr>
            <a:r>
              <a:t>Recommendation: use a date field on the x-axis if the goal is to analyze sales over 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365760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78B9FF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8686800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Aptos"/>
              </a:defRPr>
            </a:pPr>
            <a:r>
              <a:t>What the dashboard tells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57400"/>
            <a:ext cx="548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78B9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011680"/>
            <a:ext cx="95097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Total order volume is approximately 1.2K, with total order value of ₹14.81M.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15768"/>
            <a:ext cx="548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78B9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670048"/>
            <a:ext cx="95097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Delivered orders make up the clear majority of all orders.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74136"/>
            <a:ext cx="548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78B9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328416"/>
            <a:ext cx="95097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Nagpur leads the displayed cities in order 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032504"/>
            <a:ext cx="548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78B9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986784"/>
            <a:ext cx="95097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BlueRoute leads the displayed courier partners by order count.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690872"/>
            <a:ext cx="5486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1">
                <a:solidFill>
                  <a:srgbClr val="78B9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645152"/>
            <a:ext cx="950976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600" b="0">
                <a:solidFill>
                  <a:srgbClr val="FFFFFF"/>
                </a:solidFill>
                <a:latin typeface="Aptos"/>
              </a:defRPr>
            </a:pPr>
            <a:r>
              <a:t>Fashion and Electronics contribute the largest category-wise sales values.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806440"/>
            <a:ext cx="10424160" cy="5486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300" b="0">
                <a:solidFill>
                  <a:srgbClr val="DCE4EF"/>
                </a:solidFill>
                <a:latin typeface="Aptos"/>
              </a:defRPr>
            </a:pPr>
            <a:r>
              <a:t>Suggested next steps: investigate delayed/cancelled orders, compare courier performance by delivery success, and add a date-based sales trend.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2700" b="1">
                <a:solidFill>
                  <a:srgbClr val="162741"/>
                </a:solidFill>
                <a:latin typeface="Aptos"/>
              </a:defRPr>
            </a:pPr>
            <a:r>
              <a:t>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8813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>
              <a:defRPr sz="1100" b="0">
                <a:solidFill>
                  <a:srgbClr val="5F6B7B"/>
                </a:solidFill>
                <a:latin typeface="Aptos"/>
              </a:defRPr>
            </a:pPr>
            <a:r>
              <a:t>Full dashboard screenshot for reference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389888"/>
            <a:ext cx="685800" cy="54864"/>
          </a:xfrm>
          <a:prstGeom prst="rect">
            <a:avLst/>
          </a:prstGeom>
          <a:solidFill>
            <a:srgbClr val="227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93192"/>
            <a:ext cx="4572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1000" b="1">
                <a:solidFill>
                  <a:srgbClr val="5F6B7B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7" name="Picture 6" descr="Screenshot 2026-10-14 1959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422" y="1572768"/>
            <a:ext cx="8846850" cy="4983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